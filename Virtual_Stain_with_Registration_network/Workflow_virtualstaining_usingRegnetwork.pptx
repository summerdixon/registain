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6" r:id="rId2"/>
    <p:sldId id="257" r:id="rId3"/>
    <p:sldId id="258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C9C36-CD90-4297-BD2B-69780D569292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89085-81B7-4279-B3F2-FA46BEA7F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2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12AEE-6077-9180-4CB8-268B97A4F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34FD1-2A44-3B7B-576C-95B77C5E6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0CFC3-2FE5-CA63-349E-49BEE1E6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C08D-0CF7-D40C-425A-A397C0A7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20D4A-3D96-B041-DEF6-809B94F8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8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3CDF-253A-043A-62F9-B23A35C12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1AC1A-5F3A-BF16-0868-E4C60FC1B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E402-F2A9-69AA-7AEB-4B02670D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B3A4C-F954-1DA4-353C-3147A70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C8712-068C-CD2E-1115-950E92E5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FEC8-9839-0B30-1F38-B589A9EBD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890A1-9533-D390-F4E4-29697EBC2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62492-BFF3-F9D8-B94E-135B20B4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60A45-8225-E603-1FB5-E81FF98FC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59CB-7D20-464E-33DB-E016F5C5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6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4C8D-D9E3-EB37-12A6-EF17FDEA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CB276-D182-7D2C-7229-4F3C6AD6E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69B96-7608-D0CC-943D-DB25C077B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BCE48-20C0-3236-FDDB-9428AC3F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0CED6-2446-7F9C-0D29-1CF39E83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C11D0-C8AA-EEC5-F659-F65428E0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7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320D-4E04-79AC-0A73-8F475833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63A2-4F11-76EF-11E2-B72786F9B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1D0D6-D191-6FF5-59BA-20D15A970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5ACB7-7BE1-D998-98C5-7C037811B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178E8-AC6F-807C-091B-38EC5606C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CEE2E-7FAA-837C-603A-427AB95D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4728D-CEF4-0FC2-EFF9-A382FBEE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D921D-A8DF-A765-8D96-BBDEC671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7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1A88-5AA7-72EE-A3D0-4E94C592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B2C40-BCC5-4AE8-559B-3218A10F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8B0FA-880A-3AE8-F418-F32939AE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99812-2DD1-B429-8270-4026903F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5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79556-AB49-7B06-0582-A9911F71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E75A4-2330-712A-C5A1-5E141CE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BE6B2-4945-87BA-A053-CAD736BB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8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3A817-BBEB-C855-A6FC-882F252D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106C3-6136-8669-6A0C-985BACD5D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6F8CA-88D2-4058-0988-A345E87BE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3A4F5-E996-B92D-1E26-595ED32A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59178-D6FC-B322-3D66-3938D8FC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EFF31-FD05-4C7B-F7A4-87EB6977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5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DA68-935F-CDA3-DF62-FDFCE0D9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BAEFA-6B69-FA63-4CCC-EBEB33CEE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2BB3E-0CA1-6E80-B780-70CC822DF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C0C94-0E30-2545-37DF-E04E732A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09943-FF39-16EF-1CCD-94711EFB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C9DAB-4421-98AE-60C8-5232C635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9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3C99-B39F-C2A5-5EB5-7F5D5C42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712B2-0284-06A5-7205-B8DEBE49D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FFB6-C428-3CA0-89F8-F6E9DE9B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69464-D64C-003B-E263-EC41EF09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BCE13-C1C8-5121-B48D-30CD8BD2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5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F318B-0B62-35D0-0300-44D5AECD7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A7B2F-37B4-7814-16B2-C50B92462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1F950-8853-F0A3-17E0-224DC578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D6E34-797E-8688-B443-AB8FC879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E7A02-9100-4EA4-FCBE-C458A039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7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FF03B-5666-8BDD-A6B7-AA910588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8B655-5D08-D699-2A73-316BE4FDD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4D318-63EE-8EFA-927A-D8CDFD2F4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4E56-3A68-404B-9B35-8369A8C5233D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77677-7319-ABA9-DC83-0A92F3FC7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F9A9D-F482-8301-B9E5-0FE68EDDF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8C023-D411-4A4D-BDED-DBF920308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5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A7EFF-7D87-970B-631D-10EF2E945B3E}"/>
              </a:ext>
            </a:extLst>
          </p:cNvPr>
          <p:cNvSpPr txBox="1"/>
          <p:nvPr/>
        </p:nvSpPr>
        <p:spPr>
          <a:xfrm>
            <a:off x="121023" y="0"/>
            <a:ext cx="1207097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story about the COVID project: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First, we demonstrated the success of virtual staining on </a:t>
            </a:r>
            <a:r>
              <a:rPr lang="en-US" b="1" dirty="0"/>
              <a:t>autopsy</a:t>
            </a:r>
            <a:r>
              <a:rPr lang="en-US" dirty="0"/>
              <a:t>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dataset volume (22422 2048*2048 training patches) of autopsy samples, 1) obtaining pix2pix precisely </a:t>
            </a:r>
          </a:p>
          <a:p>
            <a:r>
              <a:rPr lang="en-US" b="1" dirty="0"/>
              <a:t>registered</a:t>
            </a:r>
            <a:r>
              <a:rPr lang="en-US" dirty="0"/>
              <a:t> training image pairs by conventional elastic staining are time-consuming (needs several months)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2)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data screening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for such a large dataset is difficult and very laborious. </a:t>
            </a:r>
          </a:p>
          <a:p>
            <a:r>
              <a:rPr lang="en-US" dirty="0"/>
              <a:t>      Therefore, we adopted the </a:t>
            </a:r>
            <a:r>
              <a:rPr lang="en-US" dirty="0" err="1"/>
              <a:t>Registain</a:t>
            </a:r>
            <a:r>
              <a:rPr lang="en-US" dirty="0"/>
              <a:t> network structure with the case filtering design to overcome the above-mentioned two problems.</a:t>
            </a:r>
          </a:p>
          <a:p>
            <a:r>
              <a:rPr lang="en-US" dirty="0"/>
              <a:t>      1) training the virtual staining generator and image aligner alternatively and performing elastic registration using the aligner while training.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 2) case filtering could discard the losses from poorly-matched image pairs (low cross-correlation coefficients), performing automatically data screening while training</a:t>
            </a:r>
          </a:p>
          <a:p>
            <a:r>
              <a:rPr lang="en-US" dirty="0"/>
              <a:t>      We still need to train 3 baseline models: 1) without registration network without case filtering </a:t>
            </a:r>
          </a:p>
          <a:p>
            <a:r>
              <a:rPr lang="en-US" dirty="0"/>
              <a:t>				        2) without registration network with case filtering</a:t>
            </a:r>
          </a:p>
          <a:p>
            <a:r>
              <a:rPr lang="en-US" dirty="0"/>
              <a:t>				        3) with registration network without case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model could generalize to </a:t>
            </a:r>
            <a:r>
              <a:rPr lang="en-US" b="1" dirty="0"/>
              <a:t>new disease samples (covid)</a:t>
            </a:r>
          </a:p>
          <a:p>
            <a:r>
              <a:rPr lang="en-US" dirty="0"/>
              <a:t>     image quality evaluation by pathologists</a:t>
            </a:r>
          </a:p>
          <a:p>
            <a:r>
              <a:rPr lang="en-US" dirty="0"/>
              <a:t>     No diagnosis evaluation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41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626997" y="3110276"/>
            <a:ext cx="1249904" cy="523220"/>
          </a:xfrm>
          <a:prstGeom prst="flowChartInputOutput">
            <a:avLst/>
          </a:prstGeom>
          <a:blipFill rotWithShape="1">
            <a:blip r:embed="rId3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242245" y="475425"/>
            <a:ext cx="28234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 of the framework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5463111" y="3110276"/>
            <a:ext cx="1409869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0" name="Google Shape;120;p14"/>
          <p:cNvCxnSpPr>
            <a:endCxn id="121" idx="2"/>
          </p:cNvCxnSpPr>
          <p:nvPr/>
        </p:nvCxnSpPr>
        <p:spPr>
          <a:xfrm rot="-5400000">
            <a:off x="5889511" y="5250453"/>
            <a:ext cx="540300" cy="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" name="Google Shape;122;p14"/>
          <p:cNvCxnSpPr>
            <a:stCxn id="123" idx="2"/>
            <a:endCxn id="121" idx="1"/>
          </p:cNvCxnSpPr>
          <p:nvPr/>
        </p:nvCxnSpPr>
        <p:spPr>
          <a:xfrm rot="-5400000" flipH="1">
            <a:off x="4575534" y="3744046"/>
            <a:ext cx="923100" cy="7020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3" name="Google Shape;123;p14"/>
          <p:cNvSpPr txBox="1"/>
          <p:nvPr/>
        </p:nvSpPr>
        <p:spPr>
          <a:xfrm>
            <a:off x="4219668" y="3110276"/>
            <a:ext cx="932831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24" name="Google Shape;124;p14"/>
          <p:cNvCxnSpPr>
            <a:stCxn id="117" idx="5"/>
            <a:endCxn id="125" idx="1"/>
          </p:cNvCxnSpPr>
          <p:nvPr/>
        </p:nvCxnSpPr>
        <p:spPr>
          <a:xfrm>
            <a:off x="1751911" y="3371886"/>
            <a:ext cx="408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6" name="Google Shape;126;p14"/>
          <p:cNvCxnSpPr>
            <a:stCxn id="125" idx="3"/>
            <a:endCxn id="123" idx="1"/>
          </p:cNvCxnSpPr>
          <p:nvPr/>
        </p:nvCxnSpPr>
        <p:spPr>
          <a:xfrm>
            <a:off x="3704166" y="3371888"/>
            <a:ext cx="515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7" name="Google Shape;127;p14"/>
          <p:cNvSpPr/>
          <p:nvPr/>
        </p:nvSpPr>
        <p:spPr>
          <a:xfrm>
            <a:off x="9293640" y="4672163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Aligner network</a:t>
            </a:r>
            <a:endParaRPr/>
          </a:p>
        </p:txBody>
      </p:sp>
      <p:cxnSp>
        <p:nvCxnSpPr>
          <p:cNvPr id="128" name="Google Shape;128;p14"/>
          <p:cNvCxnSpPr>
            <a:stCxn id="129" idx="0"/>
            <a:endCxn id="127" idx="2"/>
          </p:cNvCxnSpPr>
          <p:nvPr/>
        </p:nvCxnSpPr>
        <p:spPr>
          <a:xfrm rot="-5400000">
            <a:off x="9880924" y="5699602"/>
            <a:ext cx="363900" cy="54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0" name="Google Shape;130;p14"/>
          <p:cNvSpPr txBox="1"/>
          <p:nvPr/>
        </p:nvSpPr>
        <p:spPr>
          <a:xfrm>
            <a:off x="9794773" y="4159675"/>
            <a:ext cx="541612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31" name="Google Shape;131;p14"/>
          <p:cNvCxnSpPr>
            <a:stCxn id="127" idx="0"/>
            <a:endCxn id="130" idx="2"/>
          </p:cNvCxnSpPr>
          <p:nvPr/>
        </p:nvCxnSpPr>
        <p:spPr>
          <a:xfrm rot="-5400000">
            <a:off x="9963580" y="4569563"/>
            <a:ext cx="204600" cy="600"/>
          </a:xfrm>
          <a:prstGeom prst="bentConnector3">
            <a:avLst>
              <a:gd name="adj1" fmla="val 50027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2" name="Google Shape;132;p14"/>
          <p:cNvSpPr/>
          <p:nvPr/>
        </p:nvSpPr>
        <p:spPr>
          <a:xfrm>
            <a:off x="9291716" y="1968900"/>
            <a:ext cx="1543879" cy="584404"/>
          </a:xfrm>
          <a:prstGeom prst="roundRect">
            <a:avLst>
              <a:gd name="adj" fmla="val 16667"/>
            </a:avLst>
          </a:prstGeom>
          <a:solidFill>
            <a:srgbClr val="FF5D5D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Spatial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/>
          </a:p>
        </p:txBody>
      </p:sp>
      <p:cxnSp>
        <p:nvCxnSpPr>
          <p:cNvPr id="133" name="Google Shape;133;p14"/>
          <p:cNvCxnSpPr>
            <a:stCxn id="130" idx="0"/>
            <a:endCxn id="134" idx="2"/>
          </p:cNvCxnSpPr>
          <p:nvPr/>
        </p:nvCxnSpPr>
        <p:spPr>
          <a:xfrm rot="-5400000">
            <a:off x="9980679" y="4070275"/>
            <a:ext cx="174300" cy="4500"/>
          </a:xfrm>
          <a:prstGeom prst="bentConnector3">
            <a:avLst>
              <a:gd name="adj1" fmla="val 49974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" name="Google Shape;135;p14"/>
          <p:cNvCxnSpPr>
            <a:stCxn id="129" idx="3"/>
            <a:endCxn id="132" idx="3"/>
          </p:cNvCxnSpPr>
          <p:nvPr/>
        </p:nvCxnSpPr>
        <p:spPr>
          <a:xfrm rot="10800000" flipH="1">
            <a:off x="10765107" y="2261080"/>
            <a:ext cx="70500" cy="3896100"/>
          </a:xfrm>
          <a:prstGeom prst="bentConnector3">
            <a:avLst>
              <a:gd name="adj1" fmla="val 1266164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" name="Google Shape;136;p14"/>
          <p:cNvSpPr txBox="1"/>
          <p:nvPr/>
        </p:nvSpPr>
        <p:spPr>
          <a:xfrm>
            <a:off x="7610377" y="489140"/>
            <a:ext cx="27037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Details of the Aligner block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7799477" y="1297218"/>
            <a:ext cx="312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138" name="Google Shape;138;p14"/>
          <p:cNvCxnSpPr>
            <a:stCxn id="139" idx="2"/>
            <a:endCxn id="127" idx="1"/>
          </p:cNvCxnSpPr>
          <p:nvPr/>
        </p:nvCxnSpPr>
        <p:spPr>
          <a:xfrm rot="-5400000" flipH="1">
            <a:off x="7347470" y="3149996"/>
            <a:ext cx="3353400" cy="539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1" name="Google Shape;121;p14"/>
          <p:cNvSpPr/>
          <p:nvPr/>
        </p:nvSpPr>
        <p:spPr>
          <a:xfrm>
            <a:off x="5388021" y="4132464"/>
            <a:ext cx="1543879" cy="84813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Aligner block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2160287" y="2947818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Generator network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3914143" y="1609496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Discriminator network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166902" y="5012074"/>
            <a:ext cx="8905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“Moving”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660644" y="3998178"/>
            <a:ext cx="8839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“Fixed”</a:t>
            </a:r>
            <a:endParaRPr sz="18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9323736" y="3741317"/>
            <a:ext cx="1492909" cy="244150"/>
          </a:xfrm>
          <a:prstGeom prst="roundRect">
            <a:avLst>
              <a:gd name="adj" fmla="val 16667"/>
            </a:avLst>
          </a:prstGeom>
          <a:solidFill>
            <a:srgbClr val="FF5D5D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Clipping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9789369" y="2734654"/>
            <a:ext cx="541612" cy="3077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2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44" name="Google Shape;144;p14"/>
          <p:cNvCxnSpPr>
            <a:stCxn id="145" idx="0"/>
            <a:endCxn id="143" idx="2"/>
          </p:cNvCxnSpPr>
          <p:nvPr/>
        </p:nvCxnSpPr>
        <p:spPr>
          <a:xfrm rot="5400000" flipH="1">
            <a:off x="9942360" y="3160348"/>
            <a:ext cx="2364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6" name="Google Shape;146;p14"/>
          <p:cNvCxnSpPr>
            <a:stCxn id="143" idx="0"/>
            <a:endCxn id="132" idx="2"/>
          </p:cNvCxnSpPr>
          <p:nvPr/>
        </p:nvCxnSpPr>
        <p:spPr>
          <a:xfrm rot="-5400000">
            <a:off x="9971375" y="2642254"/>
            <a:ext cx="181200" cy="3600"/>
          </a:xfrm>
          <a:prstGeom prst="bentConnector3">
            <a:avLst>
              <a:gd name="adj1" fmla="val 50041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5" name="Google Shape;145;p14"/>
          <p:cNvSpPr/>
          <p:nvPr/>
        </p:nvSpPr>
        <p:spPr>
          <a:xfrm>
            <a:off x="9314405" y="3278848"/>
            <a:ext cx="1492909" cy="266955"/>
          </a:xfrm>
          <a:prstGeom prst="roundRect">
            <a:avLst>
              <a:gd name="adj" fmla="val 16667"/>
            </a:avLst>
          </a:prstGeom>
          <a:solidFill>
            <a:srgbClr val="FF5D5D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Smoothing </a:t>
            </a:r>
            <a:endParaRPr/>
          </a:p>
        </p:txBody>
      </p:sp>
      <p:cxnSp>
        <p:nvCxnSpPr>
          <p:cNvPr id="147" name="Google Shape;147;p14"/>
          <p:cNvCxnSpPr>
            <a:stCxn id="134" idx="0"/>
            <a:endCxn id="145" idx="2"/>
          </p:cNvCxnSpPr>
          <p:nvPr/>
        </p:nvCxnSpPr>
        <p:spPr>
          <a:xfrm rot="5400000" flipH="1">
            <a:off x="9967741" y="3638867"/>
            <a:ext cx="195600" cy="9300"/>
          </a:xfrm>
          <a:prstGeom prst="bentConnector3">
            <a:avLst>
              <a:gd name="adj1" fmla="val 49978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8" name="Google Shape;148;p14"/>
          <p:cNvCxnSpPr>
            <a:stCxn id="121" idx="0"/>
            <a:endCxn id="119" idx="2"/>
          </p:cNvCxnSpPr>
          <p:nvPr/>
        </p:nvCxnSpPr>
        <p:spPr>
          <a:xfrm rot="10800000" flipH="1">
            <a:off x="6159961" y="3633564"/>
            <a:ext cx="8100" cy="498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9" name="Google Shape;149;p14"/>
          <p:cNvSpPr txBox="1"/>
          <p:nvPr/>
        </p:nvSpPr>
        <p:spPr>
          <a:xfrm>
            <a:off x="5463110" y="5534969"/>
            <a:ext cx="1409867" cy="54585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t="-11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9388691" y="1218565"/>
            <a:ext cx="1332209" cy="52322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8391824" y="1219626"/>
            <a:ext cx="725592" cy="52322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839" t="-2324" r="-1008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51" name="Google Shape;151;p14"/>
          <p:cNvCxnSpPr>
            <a:stCxn id="132" idx="0"/>
            <a:endCxn id="150" idx="2"/>
          </p:cNvCxnSpPr>
          <p:nvPr/>
        </p:nvCxnSpPr>
        <p:spPr>
          <a:xfrm rot="10800000">
            <a:off x="10054656" y="1741800"/>
            <a:ext cx="9000" cy="227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" name="Google Shape;152;p14"/>
          <p:cNvSpPr txBox="1"/>
          <p:nvPr/>
        </p:nvSpPr>
        <p:spPr>
          <a:xfrm>
            <a:off x="10092254" y="5571124"/>
            <a:ext cx="15438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“Moving”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7839819" y="4618591"/>
            <a:ext cx="8839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“Fixed”</a:t>
            </a:r>
            <a:endParaRPr sz="18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9355240" y="5884252"/>
            <a:ext cx="1409867" cy="54585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7591401" y="486722"/>
            <a:ext cx="4269378" cy="6097364"/>
          </a:xfrm>
          <a:prstGeom prst="rect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4000500" y="2947818"/>
            <a:ext cx="3064775" cy="3310107"/>
          </a:xfrm>
          <a:prstGeom prst="rect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4"/>
          <p:cNvCxnSpPr/>
          <p:nvPr/>
        </p:nvCxnSpPr>
        <p:spPr>
          <a:xfrm rot="10800000" flipH="1">
            <a:off x="4000500" y="485849"/>
            <a:ext cx="3567537" cy="2461971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57" name="Google Shape;157;p14"/>
          <p:cNvCxnSpPr/>
          <p:nvPr/>
        </p:nvCxnSpPr>
        <p:spPr>
          <a:xfrm>
            <a:off x="4010745" y="6253089"/>
            <a:ext cx="3599632" cy="338101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58" name="Google Shape;158;p14"/>
          <p:cNvCxnSpPr>
            <a:stCxn id="123" idx="0"/>
            <a:endCxn id="140" idx="2"/>
          </p:cNvCxnSpPr>
          <p:nvPr/>
        </p:nvCxnSpPr>
        <p:spPr>
          <a:xfrm rot="10800000">
            <a:off x="4686084" y="2457776"/>
            <a:ext cx="0" cy="6525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9" name="Google Shape;159;p14"/>
          <p:cNvSpPr txBox="1"/>
          <p:nvPr/>
        </p:nvSpPr>
        <p:spPr>
          <a:xfrm>
            <a:off x="77408" y="6065366"/>
            <a:ext cx="3917970" cy="738664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466" t="-1652" b="-743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15845" y="20579"/>
            <a:ext cx="1188006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RegiStain: virtual staining with learning-based registration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5"/>
          <p:cNvCxnSpPr>
            <a:stCxn id="166" idx="3"/>
            <a:endCxn id="167" idx="0"/>
          </p:cNvCxnSpPr>
          <p:nvPr/>
        </p:nvCxnSpPr>
        <p:spPr>
          <a:xfrm rot="10800000">
            <a:off x="3032309" y="876904"/>
            <a:ext cx="3980100" cy="5281800"/>
          </a:xfrm>
          <a:prstGeom prst="bentConnector4">
            <a:avLst>
              <a:gd name="adj1" fmla="val -10231"/>
              <a:gd name="adj2" fmla="val 104328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8" name="Google Shape;168;p15"/>
          <p:cNvSpPr/>
          <p:nvPr/>
        </p:nvSpPr>
        <p:spPr>
          <a:xfrm>
            <a:off x="766429" y="3461083"/>
            <a:ext cx="1249904" cy="523220"/>
          </a:xfrm>
          <a:prstGeom prst="flowChartInputOutput">
            <a:avLst/>
          </a:prstGeom>
          <a:blipFill rotWithShape="1">
            <a:blip r:embed="rId3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239280" y="133212"/>
            <a:ext cx="34489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of the Generator network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5602543" y="3461083"/>
            <a:ext cx="1409869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71" name="Google Shape;171;p15"/>
          <p:cNvCxnSpPr>
            <a:endCxn id="172" idx="2"/>
          </p:cNvCxnSpPr>
          <p:nvPr/>
        </p:nvCxnSpPr>
        <p:spPr>
          <a:xfrm rot="-5400000">
            <a:off x="6028943" y="5601260"/>
            <a:ext cx="540300" cy="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3" name="Google Shape;173;p15"/>
          <p:cNvCxnSpPr>
            <a:stCxn id="174" idx="2"/>
            <a:endCxn id="172" idx="1"/>
          </p:cNvCxnSpPr>
          <p:nvPr/>
        </p:nvCxnSpPr>
        <p:spPr>
          <a:xfrm rot="-5400000" flipH="1">
            <a:off x="4714966" y="4094853"/>
            <a:ext cx="923100" cy="7020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4" name="Google Shape;174;p15"/>
          <p:cNvSpPr txBox="1"/>
          <p:nvPr/>
        </p:nvSpPr>
        <p:spPr>
          <a:xfrm>
            <a:off x="4359100" y="3461083"/>
            <a:ext cx="932831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32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75" name="Google Shape;175;p15"/>
          <p:cNvCxnSpPr>
            <a:stCxn id="168" idx="5"/>
            <a:endCxn id="176" idx="1"/>
          </p:cNvCxnSpPr>
          <p:nvPr/>
        </p:nvCxnSpPr>
        <p:spPr>
          <a:xfrm>
            <a:off x="1891343" y="3722693"/>
            <a:ext cx="408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7" name="Google Shape;177;p15"/>
          <p:cNvCxnSpPr>
            <a:stCxn id="176" idx="3"/>
            <a:endCxn id="174" idx="1"/>
          </p:cNvCxnSpPr>
          <p:nvPr/>
        </p:nvCxnSpPr>
        <p:spPr>
          <a:xfrm>
            <a:off x="3843598" y="3722695"/>
            <a:ext cx="515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8" name="Google Shape;178;p15"/>
          <p:cNvCxnSpPr>
            <a:stCxn id="170" idx="0"/>
            <a:endCxn id="179" idx="3"/>
          </p:cNvCxnSpPr>
          <p:nvPr/>
        </p:nvCxnSpPr>
        <p:spPr>
          <a:xfrm rot="5400000" flipH="1">
            <a:off x="5014178" y="2167783"/>
            <a:ext cx="2361600" cy="225000"/>
          </a:xfrm>
          <a:prstGeom prst="bentConnector2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0" name="Google Shape;180;p15"/>
          <p:cNvCxnSpPr>
            <a:stCxn id="181" idx="0"/>
            <a:endCxn id="167" idx="2"/>
          </p:cNvCxnSpPr>
          <p:nvPr/>
        </p:nvCxnSpPr>
        <p:spPr>
          <a:xfrm rot="10800000">
            <a:off x="3032206" y="1360593"/>
            <a:ext cx="0" cy="495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7" name="Google Shape;167;p15"/>
          <p:cNvSpPr/>
          <p:nvPr/>
        </p:nvSpPr>
        <p:spPr>
          <a:xfrm>
            <a:off x="2453924" y="876882"/>
            <a:ext cx="1156563" cy="483753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Adversarial loss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3759472" y="862755"/>
            <a:ext cx="948975" cy="47497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TV loss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4860326" y="861157"/>
            <a:ext cx="1222207" cy="47657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BerHu loss</a:t>
            </a:r>
            <a:endParaRPr/>
          </a:p>
        </p:txBody>
      </p:sp>
      <p:cxnSp>
        <p:nvCxnSpPr>
          <p:cNvPr id="183" name="Google Shape;183;p15"/>
          <p:cNvCxnSpPr>
            <a:stCxn id="174" idx="0"/>
            <a:endCxn id="179" idx="2"/>
          </p:cNvCxnSpPr>
          <p:nvPr/>
        </p:nvCxnSpPr>
        <p:spPr>
          <a:xfrm rot="10800000" flipH="1">
            <a:off x="4825516" y="1337683"/>
            <a:ext cx="645900" cy="2123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4" name="Google Shape;184;p15"/>
          <p:cNvCxnSpPr>
            <a:stCxn id="174" idx="0"/>
            <a:endCxn id="182" idx="2"/>
          </p:cNvCxnSpPr>
          <p:nvPr/>
        </p:nvCxnSpPr>
        <p:spPr>
          <a:xfrm rot="10800000">
            <a:off x="4233916" y="1337683"/>
            <a:ext cx="591600" cy="21234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2" name="Google Shape;172;p15"/>
          <p:cNvSpPr/>
          <p:nvPr/>
        </p:nvSpPr>
        <p:spPr>
          <a:xfrm>
            <a:off x="5527453" y="4483271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Aligner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2299719" y="3298625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2260266" y="1856193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Discriminator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6306334" y="5362881"/>
            <a:ext cx="8905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“Moving”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4800076" y="4348985"/>
            <a:ext cx="8839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“Fixed”</a:t>
            </a:r>
            <a:endParaRPr sz="18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5"/>
          <p:cNvCxnSpPr>
            <a:stCxn id="172" idx="0"/>
            <a:endCxn id="170" idx="2"/>
          </p:cNvCxnSpPr>
          <p:nvPr/>
        </p:nvCxnSpPr>
        <p:spPr>
          <a:xfrm rot="10800000" flipH="1">
            <a:off x="6299393" y="3984371"/>
            <a:ext cx="8100" cy="498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6" name="Google Shape;166;p15"/>
          <p:cNvSpPr txBox="1"/>
          <p:nvPr/>
        </p:nvSpPr>
        <p:spPr>
          <a:xfrm>
            <a:off x="5602542" y="5885776"/>
            <a:ext cx="1409867" cy="5458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t="-11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88" name="Google Shape;188;p15"/>
          <p:cNvCxnSpPr>
            <a:stCxn id="174" idx="0"/>
            <a:endCxn id="181" idx="2"/>
          </p:cNvCxnSpPr>
          <p:nvPr/>
        </p:nvCxnSpPr>
        <p:spPr>
          <a:xfrm rot="5400000" flipH="1">
            <a:off x="3550366" y="2185933"/>
            <a:ext cx="756900" cy="17934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9" name="Google Shape;189;p15"/>
          <p:cNvSpPr txBox="1"/>
          <p:nvPr/>
        </p:nvSpPr>
        <p:spPr>
          <a:xfrm>
            <a:off x="5803573" y="4113939"/>
            <a:ext cx="2119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Fixed, inference only</a:t>
            </a: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1426851" y="2952829"/>
            <a:ext cx="15456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Under training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6096000" y="177463"/>
            <a:ext cx="49579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of training Generator: Discriminator: Aligner = 12: 1: 3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1391381" y="1478999"/>
            <a:ext cx="2119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Fixed, inference only</a:t>
            </a: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4928021" y="2562708"/>
            <a:ext cx="1374977" cy="483753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BerHu loss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779397" y="3460332"/>
            <a:ext cx="1249904" cy="523220"/>
          </a:xfrm>
          <a:prstGeom prst="flowChartInputOutput">
            <a:avLst/>
          </a:prstGeom>
          <a:blipFill rotWithShape="1">
            <a:blip r:embed="rId3">
              <a:alphaModFix/>
            </a:blip>
            <a:stretch>
              <a:fillRect t="-23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5615511" y="3460332"/>
            <a:ext cx="1409869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2352" b="-11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00" name="Google Shape;200;p16"/>
          <p:cNvCxnSpPr>
            <a:endCxn id="201" idx="2"/>
          </p:cNvCxnSpPr>
          <p:nvPr/>
        </p:nvCxnSpPr>
        <p:spPr>
          <a:xfrm rot="-5400000">
            <a:off x="6041911" y="5600509"/>
            <a:ext cx="540300" cy="600"/>
          </a:xfrm>
          <a:prstGeom prst="bentConnector3">
            <a:avLst>
              <a:gd name="adj1" fmla="val 50006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2" name="Google Shape;202;p16"/>
          <p:cNvCxnSpPr>
            <a:stCxn id="203" idx="2"/>
            <a:endCxn id="201" idx="1"/>
          </p:cNvCxnSpPr>
          <p:nvPr/>
        </p:nvCxnSpPr>
        <p:spPr>
          <a:xfrm rot="-5400000" flipH="1">
            <a:off x="4727934" y="4094102"/>
            <a:ext cx="923100" cy="7020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3" name="Google Shape;203;p16"/>
          <p:cNvSpPr txBox="1"/>
          <p:nvPr/>
        </p:nvSpPr>
        <p:spPr>
          <a:xfrm>
            <a:off x="4372068" y="3460332"/>
            <a:ext cx="932831" cy="52322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352" b="-11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04" name="Google Shape;204;p16"/>
          <p:cNvCxnSpPr>
            <a:stCxn id="198" idx="5"/>
            <a:endCxn id="205" idx="1"/>
          </p:cNvCxnSpPr>
          <p:nvPr/>
        </p:nvCxnSpPr>
        <p:spPr>
          <a:xfrm>
            <a:off x="1904311" y="3721942"/>
            <a:ext cx="408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6" name="Google Shape;206;p16"/>
          <p:cNvCxnSpPr>
            <a:stCxn id="205" idx="3"/>
            <a:endCxn id="203" idx="1"/>
          </p:cNvCxnSpPr>
          <p:nvPr/>
        </p:nvCxnSpPr>
        <p:spPr>
          <a:xfrm>
            <a:off x="3856566" y="3721943"/>
            <a:ext cx="515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7" name="Google Shape;207;p16"/>
          <p:cNvSpPr/>
          <p:nvPr/>
        </p:nvSpPr>
        <p:spPr>
          <a:xfrm>
            <a:off x="9386329" y="4858701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Aligner</a:t>
            </a:r>
            <a:endParaRPr/>
          </a:p>
        </p:txBody>
      </p:sp>
      <p:cxnSp>
        <p:nvCxnSpPr>
          <p:cNvPr id="208" name="Google Shape;208;p16"/>
          <p:cNvCxnSpPr>
            <a:stCxn id="209" idx="0"/>
            <a:endCxn id="207" idx="2"/>
          </p:cNvCxnSpPr>
          <p:nvPr/>
        </p:nvCxnSpPr>
        <p:spPr>
          <a:xfrm rot="-5400000">
            <a:off x="9973613" y="5886140"/>
            <a:ext cx="363900" cy="54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0" name="Google Shape;210;p16"/>
          <p:cNvSpPr txBox="1"/>
          <p:nvPr/>
        </p:nvSpPr>
        <p:spPr>
          <a:xfrm>
            <a:off x="9887462" y="4346213"/>
            <a:ext cx="541612" cy="307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11" name="Google Shape;211;p16"/>
          <p:cNvCxnSpPr>
            <a:stCxn id="207" idx="0"/>
            <a:endCxn id="210" idx="2"/>
          </p:cNvCxnSpPr>
          <p:nvPr/>
        </p:nvCxnSpPr>
        <p:spPr>
          <a:xfrm rot="-5400000">
            <a:off x="10056269" y="4756101"/>
            <a:ext cx="204600" cy="600"/>
          </a:xfrm>
          <a:prstGeom prst="bentConnector3">
            <a:avLst>
              <a:gd name="adj1" fmla="val 50027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212;p16"/>
          <p:cNvSpPr/>
          <p:nvPr/>
        </p:nvSpPr>
        <p:spPr>
          <a:xfrm>
            <a:off x="9384405" y="2155438"/>
            <a:ext cx="1543879" cy="584404"/>
          </a:xfrm>
          <a:prstGeom prst="roundRect">
            <a:avLst>
              <a:gd name="adj" fmla="val 16667"/>
            </a:avLst>
          </a:prstGeom>
          <a:solidFill>
            <a:srgbClr val="FF5D5D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Spatial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/>
          </a:p>
        </p:txBody>
      </p:sp>
      <p:cxnSp>
        <p:nvCxnSpPr>
          <p:cNvPr id="213" name="Google Shape;213;p16"/>
          <p:cNvCxnSpPr>
            <a:stCxn id="210" idx="0"/>
            <a:endCxn id="214" idx="2"/>
          </p:cNvCxnSpPr>
          <p:nvPr/>
        </p:nvCxnSpPr>
        <p:spPr>
          <a:xfrm rot="-5400000">
            <a:off x="10073368" y="4256813"/>
            <a:ext cx="174300" cy="4500"/>
          </a:xfrm>
          <a:prstGeom prst="bentConnector3">
            <a:avLst>
              <a:gd name="adj1" fmla="val 49974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5" name="Google Shape;215;p16"/>
          <p:cNvCxnSpPr>
            <a:stCxn id="209" idx="3"/>
            <a:endCxn id="212" idx="3"/>
          </p:cNvCxnSpPr>
          <p:nvPr/>
        </p:nvCxnSpPr>
        <p:spPr>
          <a:xfrm rot="10800000" flipH="1">
            <a:off x="10857796" y="2447618"/>
            <a:ext cx="70500" cy="3896100"/>
          </a:xfrm>
          <a:prstGeom prst="bentConnector3">
            <a:avLst>
              <a:gd name="adj1" fmla="val 1266164"/>
            </a:avLst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6" name="Google Shape;216;p16"/>
          <p:cNvSpPr txBox="1"/>
          <p:nvPr/>
        </p:nvSpPr>
        <p:spPr>
          <a:xfrm>
            <a:off x="7703066" y="675678"/>
            <a:ext cx="29873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Details of the Aligner network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7892166" y="1483756"/>
            <a:ext cx="312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218" name="Google Shape;218;p16"/>
          <p:cNvCxnSpPr>
            <a:stCxn id="219" idx="2"/>
            <a:endCxn id="207" idx="1"/>
          </p:cNvCxnSpPr>
          <p:nvPr/>
        </p:nvCxnSpPr>
        <p:spPr>
          <a:xfrm rot="-5400000" flipH="1">
            <a:off x="7440159" y="3336534"/>
            <a:ext cx="3353400" cy="539100"/>
          </a:xfrm>
          <a:prstGeom prst="bentConnector2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1" name="Google Shape;201;p16"/>
          <p:cNvSpPr/>
          <p:nvPr/>
        </p:nvSpPr>
        <p:spPr>
          <a:xfrm>
            <a:off x="5540421" y="4482520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Aligner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2312687" y="3297874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6319302" y="5362130"/>
            <a:ext cx="8905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“Moving”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4813044" y="4348234"/>
            <a:ext cx="8839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“Fixed”</a:t>
            </a:r>
            <a:endParaRPr sz="18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9416425" y="3927855"/>
            <a:ext cx="1492909" cy="244150"/>
          </a:xfrm>
          <a:prstGeom prst="roundRect">
            <a:avLst>
              <a:gd name="adj" fmla="val 16667"/>
            </a:avLst>
          </a:prstGeom>
          <a:solidFill>
            <a:srgbClr val="FF5D5D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Clipping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9882058" y="2921192"/>
            <a:ext cx="541612" cy="30777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2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23" name="Google Shape;223;p16"/>
          <p:cNvCxnSpPr>
            <a:stCxn id="224" idx="0"/>
            <a:endCxn id="222" idx="2"/>
          </p:cNvCxnSpPr>
          <p:nvPr/>
        </p:nvCxnSpPr>
        <p:spPr>
          <a:xfrm rot="5400000" flipH="1">
            <a:off x="10035049" y="3346886"/>
            <a:ext cx="2364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5" name="Google Shape;225;p16"/>
          <p:cNvCxnSpPr>
            <a:stCxn id="222" idx="0"/>
            <a:endCxn id="212" idx="2"/>
          </p:cNvCxnSpPr>
          <p:nvPr/>
        </p:nvCxnSpPr>
        <p:spPr>
          <a:xfrm rot="-5400000">
            <a:off x="10064064" y="2828792"/>
            <a:ext cx="181200" cy="3600"/>
          </a:xfrm>
          <a:prstGeom prst="bentConnector3">
            <a:avLst>
              <a:gd name="adj1" fmla="val 50041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4" name="Google Shape;224;p16"/>
          <p:cNvSpPr/>
          <p:nvPr/>
        </p:nvSpPr>
        <p:spPr>
          <a:xfrm>
            <a:off x="9407094" y="3465386"/>
            <a:ext cx="1492909" cy="266955"/>
          </a:xfrm>
          <a:prstGeom prst="roundRect">
            <a:avLst>
              <a:gd name="adj" fmla="val 16667"/>
            </a:avLst>
          </a:prstGeom>
          <a:solidFill>
            <a:srgbClr val="FF5D5D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Smoothing </a:t>
            </a:r>
            <a:endParaRPr/>
          </a:p>
        </p:txBody>
      </p:sp>
      <p:cxnSp>
        <p:nvCxnSpPr>
          <p:cNvPr id="226" name="Google Shape;226;p16"/>
          <p:cNvCxnSpPr>
            <a:stCxn id="214" idx="0"/>
            <a:endCxn id="224" idx="2"/>
          </p:cNvCxnSpPr>
          <p:nvPr/>
        </p:nvCxnSpPr>
        <p:spPr>
          <a:xfrm rot="5400000" flipH="1">
            <a:off x="10060430" y="3825405"/>
            <a:ext cx="195600" cy="9300"/>
          </a:xfrm>
          <a:prstGeom prst="bentConnector3">
            <a:avLst>
              <a:gd name="adj1" fmla="val 49978"/>
            </a:avLst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7" name="Google Shape;227;p16"/>
          <p:cNvCxnSpPr>
            <a:stCxn id="201" idx="0"/>
            <a:endCxn id="199" idx="2"/>
          </p:cNvCxnSpPr>
          <p:nvPr/>
        </p:nvCxnSpPr>
        <p:spPr>
          <a:xfrm rot="10800000" flipH="1">
            <a:off x="6312361" y="3983620"/>
            <a:ext cx="8100" cy="498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8" name="Google Shape;228;p16"/>
          <p:cNvSpPr txBox="1"/>
          <p:nvPr/>
        </p:nvSpPr>
        <p:spPr>
          <a:xfrm>
            <a:off x="5615510" y="5885025"/>
            <a:ext cx="1409867" cy="54585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9481380" y="1405103"/>
            <a:ext cx="1332209" cy="52322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t="-116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8484513" y="1406164"/>
            <a:ext cx="725592" cy="52322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839" t="-2324" r="-1008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230" name="Google Shape;230;p16"/>
          <p:cNvCxnSpPr>
            <a:stCxn id="212" idx="0"/>
            <a:endCxn id="229" idx="2"/>
          </p:cNvCxnSpPr>
          <p:nvPr/>
        </p:nvCxnSpPr>
        <p:spPr>
          <a:xfrm rot="10800000">
            <a:off x="10147345" y="1928338"/>
            <a:ext cx="9000" cy="227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1" name="Google Shape;231;p16"/>
          <p:cNvSpPr txBox="1"/>
          <p:nvPr/>
        </p:nvSpPr>
        <p:spPr>
          <a:xfrm>
            <a:off x="10184943" y="5757662"/>
            <a:ext cx="15438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“Moving”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7932508" y="4805129"/>
            <a:ext cx="8839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Used as “Fixed”</a:t>
            </a:r>
            <a:endParaRPr sz="1800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9447929" y="6070790"/>
            <a:ext cx="1409867" cy="54585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t="-11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7684090" y="673260"/>
            <a:ext cx="4269378" cy="6115696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152900" y="3297875"/>
            <a:ext cx="3064775" cy="3308202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6"/>
          <p:cNvCxnSpPr/>
          <p:nvPr/>
        </p:nvCxnSpPr>
        <p:spPr>
          <a:xfrm rot="10800000" flipH="1">
            <a:off x="4152900" y="675678"/>
            <a:ext cx="3542903" cy="2622197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36" name="Google Shape;236;p16"/>
          <p:cNvCxnSpPr/>
          <p:nvPr/>
        </p:nvCxnSpPr>
        <p:spPr>
          <a:xfrm>
            <a:off x="4163145" y="6603145"/>
            <a:ext cx="3532658" cy="181609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237" name="Google Shape;237;p16"/>
          <p:cNvSpPr txBox="1"/>
          <p:nvPr/>
        </p:nvSpPr>
        <p:spPr>
          <a:xfrm>
            <a:off x="239280" y="133212"/>
            <a:ext cx="31313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of the Aligner network</a:t>
            </a:r>
            <a:endParaRPr/>
          </a:p>
        </p:txBody>
      </p:sp>
      <p:cxnSp>
        <p:nvCxnSpPr>
          <p:cNvPr id="238" name="Google Shape;238;p16"/>
          <p:cNvCxnSpPr>
            <a:stCxn id="203" idx="0"/>
            <a:endCxn id="197" idx="2"/>
          </p:cNvCxnSpPr>
          <p:nvPr/>
        </p:nvCxnSpPr>
        <p:spPr>
          <a:xfrm rot="10800000" flipH="1">
            <a:off x="4838484" y="3046332"/>
            <a:ext cx="777000" cy="414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9" name="Google Shape;239;p16"/>
          <p:cNvCxnSpPr>
            <a:stCxn id="199" idx="0"/>
            <a:endCxn id="197" idx="2"/>
          </p:cNvCxnSpPr>
          <p:nvPr/>
        </p:nvCxnSpPr>
        <p:spPr>
          <a:xfrm rot="10800000">
            <a:off x="5615446" y="3046332"/>
            <a:ext cx="705000" cy="414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0" name="Google Shape;240;p16"/>
          <p:cNvSpPr/>
          <p:nvPr/>
        </p:nvSpPr>
        <p:spPr>
          <a:xfrm>
            <a:off x="2312686" y="1809957"/>
            <a:ext cx="1543879" cy="848139"/>
          </a:xfrm>
          <a:prstGeom prst="roundRect">
            <a:avLst>
              <a:gd name="adj" fmla="val 16667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Discriminator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4617820" y="5282770"/>
            <a:ext cx="15456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Under training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1947247" y="2921192"/>
            <a:ext cx="2119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Fixed, inference only</a:t>
            </a:r>
            <a:endParaRPr sz="180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10645113" y="4259109"/>
            <a:ext cx="890564" cy="47497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TV loss</a:t>
            </a:r>
            <a:endParaRPr/>
          </a:p>
        </p:txBody>
      </p:sp>
      <p:cxnSp>
        <p:nvCxnSpPr>
          <p:cNvPr id="244" name="Google Shape;244;p16"/>
          <p:cNvCxnSpPr>
            <a:stCxn id="210" idx="3"/>
            <a:endCxn id="243" idx="1"/>
          </p:cNvCxnSpPr>
          <p:nvPr/>
        </p:nvCxnSpPr>
        <p:spPr>
          <a:xfrm rot="10800000" flipH="1">
            <a:off x="10429074" y="4496502"/>
            <a:ext cx="216000" cy="3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5" name="Google Shape;245;p16"/>
          <p:cNvSpPr txBox="1"/>
          <p:nvPr/>
        </p:nvSpPr>
        <p:spPr>
          <a:xfrm>
            <a:off x="6096000" y="177463"/>
            <a:ext cx="49579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of training Generator: Discriminator: Aligner = 12: 1: 3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5895</TotalTime>
  <Words>385</Words>
  <Application>Microsoft Office PowerPoint</Application>
  <PresentationFormat>Widescreen</PresentationFormat>
  <Paragraphs>87</Paragraphs>
  <Slides>4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LiYuzhu</dc:creator>
  <cp:lastModifiedBy>LiYuzhu</cp:lastModifiedBy>
  <cp:revision>11</cp:revision>
  <dcterms:created xsi:type="dcterms:W3CDTF">2022-06-29T21:46:08Z</dcterms:created>
  <dcterms:modified xsi:type="dcterms:W3CDTF">2022-11-04T18:19:01Z</dcterms:modified>
</cp:coreProperties>
</file>